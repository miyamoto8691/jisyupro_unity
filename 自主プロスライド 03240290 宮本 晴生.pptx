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T Sans Narrow"/>
      <p:regular r:id="rId12"/>
      <p:bold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ansNarrow-bold.fntdata"/><Relationship Id="rId12" Type="http://schemas.openxmlformats.org/officeDocument/2006/relationships/font" Target="fonts/PTSansNarrow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49146b5ec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49146b5ec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4cc88b20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4cc88b20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4cc88b20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4cc88b20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4cc88b20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4cc88b20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554895e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554895e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4.png"/><Relationship Id="rId6" Type="http://schemas.openxmlformats.org/officeDocument/2006/relationships/image" Target="../media/image6.jp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://drive.google.com/file/d/1czay2OZ-oa5Qbd1sNpxwpOfhs-oQd-8q/view" TargetMode="External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_8m72aMFhv29M0WV-VTuw_M4ps3lKZOL/view" TargetMode="External"/><Relationship Id="rId5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hyperlink" Target="http://drive.google.com/file/d/10igLdvyCkROjM3kvo_XA3QV8iloWHWhh/view" TargetMode="External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3044700" y="838330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VR MAZE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3044700" y="3064325"/>
            <a:ext cx="3054600" cy="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自主プロ発表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03-240290 宮本 晴生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775" y="3666700"/>
            <a:ext cx="1672575" cy="12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50" y="3617738"/>
            <a:ext cx="1380725" cy="129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-1432959">
            <a:off x="378943" y="719329"/>
            <a:ext cx="8636613" cy="300564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315925"/>
            <a:ext cx="8520600" cy="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その名の通り...VRの迷路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92450" y="943525"/>
            <a:ext cx="8410800" cy="28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VRゴーグル(</a:t>
            </a: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MetaQuest2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) ⇔ PC ⇔ 実物の迷路(</a:t>
            </a: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Arduino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Unity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を使い、VR内のステージ・オブジェクト作成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VRでのボール視点＆</a:t>
            </a: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ハンドトラッキング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で壁を動かす(ステッピングモーター)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実物の迷路は３Dプリンタで作成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コントローラー＆VR内の操作とリンクして動く・光る・振動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Joy-Con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を用いた傾き検知で操作＆振動</a:t>
            </a:r>
            <a:endParaRPr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925575" y="3994213"/>
            <a:ext cx="1207200" cy="54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latin typeface="Open Sans"/>
                <a:ea typeface="Open Sans"/>
                <a:cs typeface="Open Sans"/>
                <a:sym typeface="Open Sans"/>
              </a:rPr>
              <a:t>Quest Link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006350" y="3994213"/>
            <a:ext cx="1207200" cy="54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latin typeface="Open Sans"/>
                <a:ea typeface="Open Sans"/>
                <a:cs typeface="Open Sans"/>
                <a:sym typeface="Open Sans"/>
              </a:rPr>
              <a:t>Arduino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4550" y="3397925"/>
            <a:ext cx="1813150" cy="16395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3680638" y="3708725"/>
            <a:ext cx="987839" cy="627581"/>
          </a:xfrm>
          <a:custGeom>
            <a:rect b="b" l="l" r="r" t="t"/>
            <a:pathLst>
              <a:path extrusionOk="0" h="25776" w="38501">
                <a:moveTo>
                  <a:pt x="0" y="25776"/>
                </a:moveTo>
                <a:lnTo>
                  <a:pt x="36217" y="25776"/>
                </a:lnTo>
                <a:lnTo>
                  <a:pt x="38501" y="326"/>
                </a:lnTo>
                <a:lnTo>
                  <a:pt x="3263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81" name="Google Shape;81;p14"/>
          <p:cNvPicPr preferRelativeResize="0"/>
          <p:nvPr/>
        </p:nvPicPr>
        <p:blipFill rotWithShape="1">
          <a:blip r:embed="rId7">
            <a:alphaModFix/>
          </a:blip>
          <a:srcRect b="21570" l="25158" r="24525" t="20926"/>
          <a:stretch/>
        </p:blipFill>
        <p:spPr>
          <a:xfrm>
            <a:off x="3770375" y="3782700"/>
            <a:ext cx="799374" cy="4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 title="最新の写真を表示.jpeg.png"/>
          <p:cNvPicPr preferRelativeResize="0"/>
          <p:nvPr/>
        </p:nvPicPr>
        <p:blipFill rotWithShape="1">
          <a:blip r:embed="rId3">
            <a:alphaModFix amt="50000"/>
          </a:blip>
          <a:srcRect b="0" l="0" r="28927" t="0"/>
          <a:stretch/>
        </p:blipFill>
        <p:spPr>
          <a:xfrm>
            <a:off x="2543550" y="132375"/>
            <a:ext cx="6498576" cy="487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handtracking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400" y="132375"/>
            <a:ext cx="6884449" cy="487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 amt="50000"/>
          </a:blip>
          <a:srcRect b="0" l="0" r="8232" t="0"/>
          <a:stretch/>
        </p:blipFill>
        <p:spPr>
          <a:xfrm rot="1010407">
            <a:off x="4647525" y="948253"/>
            <a:ext cx="5575751" cy="3871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LED_assist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682794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7281300" y="4726500"/>
            <a:ext cx="1862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>
                <a:solidFill>
                  <a:schemeClr val="dk2"/>
                </a:solidFill>
              </a:rPr>
              <a:t>https://www.nintendo.co.jp/jobs/keyword/29.html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692375" y="152400"/>
            <a:ext cx="6451623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correct_position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682794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7066000" y="4686500"/>
            <a:ext cx="1768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>
                <a:solidFill>
                  <a:schemeClr val="dk2"/>
                </a:solidFill>
              </a:rPr>
              <a:t>https://chroske.hatenablog.com/entry/2022/12/08/225344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148125"/>
            <a:ext cx="42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00">
                <a:latin typeface="Arial"/>
                <a:ea typeface="Arial"/>
                <a:cs typeface="Arial"/>
                <a:sym typeface="Arial"/>
              </a:rPr>
              <a:t>工夫点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828875"/>
            <a:ext cx="4260300" cy="40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手ブレによる酔い軽減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⇒過去10フレームの移動平均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ローパスフィルタ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）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Cube以外の複雑なオブジェクト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	⇒</a:t>
            </a:r>
            <a:r>
              <a:rPr lang="j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Blender</a:t>
            </a:r>
            <a:r>
              <a:rPr lang="ja">
                <a:latin typeface="Arial"/>
                <a:ea typeface="Arial"/>
                <a:cs typeface="Arial"/>
                <a:sym typeface="Arial"/>
              </a:rPr>
              <a:t>での作成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immersive感を高めるエフェクト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⇒Unity内で色収差、色味を処理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Joycon振動の前後方向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⇒２種類の周波数を素早く切り替えて引っ張られる感覚を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4572000" y="148025"/>
            <a:ext cx="4422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苦労した点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572000" y="838350"/>
            <a:ext cx="43338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ja" sz="1800">
                <a:solidFill>
                  <a:schemeClr val="dk2"/>
                </a:solidFill>
              </a:rPr>
              <a:t>物理演算による現実との位置ズレ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⇒摩擦、はね返り、慣性の再現難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⇒ズレるものと開き直り、位置修正　に力を入れた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ja" sz="1800">
                <a:solidFill>
                  <a:schemeClr val="dk2"/>
                </a:solidFill>
              </a:rPr>
              <a:t>配線なんとかなりません？？？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ja" sz="1800">
                <a:solidFill>
                  <a:schemeClr val="dk2"/>
                </a:solidFill>
              </a:rPr>
              <a:t>VRゴーグルとの互換性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⇒Quest LinkはMacじゃ使えない！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⇒４日前に急遽MacのUnityデータ　を</a:t>
            </a:r>
            <a:r>
              <a:rPr lang="ja" sz="1800">
                <a:solidFill>
                  <a:schemeClr val="dk2"/>
                </a:solidFill>
                <a:highlight>
                  <a:srgbClr val="FFFF00"/>
                </a:highlight>
              </a:rPr>
              <a:t>すべてWindowsに</a:t>
            </a:r>
            <a:r>
              <a:rPr lang="ja" sz="1800">
                <a:solidFill>
                  <a:schemeClr val="dk2"/>
                </a:solidFill>
              </a:rPr>
              <a:t>移行、調整す　る羽目に。。。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（ゼミの先輩、先生方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ありがとうございました）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>
            <a:off x="4560450" y="72500"/>
            <a:ext cx="9600" cy="48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